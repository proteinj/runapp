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55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op-accent">
            <a:extLst>
              <a:ext uri="{FF2B5EF4-FFF2-40B4-BE49-F238E27FC236}">
                <a16:creationId xmlns:a16="http://schemas.microsoft.com/office/drawing/2014/main" id="{7521DEC6-10E2-4368-8D93-4C95CF3547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6CDF"/>
          </a:solidFill>
          <a:ln w="0">
            <a:solidFill>
              <a:srgbClr val="2D6CDF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eyebrow">
            <a:extLst>
              <a:ext uri="{FF2B5EF4-FFF2-40B4-BE49-F238E27FC236}">
                <a16:creationId xmlns:a16="http://schemas.microsoft.com/office/drawing/2014/main" id="{D02D7507-CAB1-4755-B0E8-D03EBB548CB3}"/>
              </a:ext>
            </a:extLst>
          </p:cNvPr>
          <p:cNvSpPr>
            <a:spLocks noGrp="1"/>
          </p:cNvSpPr>
          <p:nvPr/>
        </p:nvSpPr>
        <p:spPr>
          <a:xfrm>
            <a:off x="533400" y="3238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rPr>
              <a:t>BATON | FULL-STACK SYSTEM ARCHITECTURE</a:t>
            </a:r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A1A7C54B-C57F-4FDA-BA3A-30AE133F3FDA}"/>
              </a:ext>
            </a:extLst>
          </p:cNvPr>
          <p:cNvSpPr>
            <a:spLocks noGrp="1"/>
          </p:cNvSpPr>
          <p:nvPr/>
        </p:nvSpPr>
        <p:spPr>
          <a:xfrm>
            <a:off x="533400" y="552450"/>
            <a:ext cx="7239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5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소셜 러닝 플랫폼 시스템 아키텍처</a:t>
            </a:r>
          </a:p>
        </p:txBody>
      </p:sp>
      <p:sp>
        <p:nvSpPr>
          <p:cNvPr id="4" name="subtitle">
            <a:extLst>
              <a:ext uri="{FF2B5EF4-FFF2-40B4-BE49-F238E27FC236}">
                <a16:creationId xmlns:a16="http://schemas.microsoft.com/office/drawing/2014/main" id="{912144A9-8C34-4EF2-ADCC-CC87F7380544}"/>
              </a:ext>
            </a:extLst>
          </p:cNvPr>
          <p:cNvSpPr>
            <a:spLocks noGrp="1"/>
          </p:cNvSpPr>
          <p:nvPr/>
        </p:nvSpPr>
        <p:spPr>
          <a:xfrm>
            <a:off x="533400" y="1066800"/>
            <a:ext cx="98107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>
                <a:solidFill>
                  <a:srgbClr val="5260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>
                <a:solidFill>
                  <a:srgbClr val="526078"/>
                </a:solidFill>
                <a:latin typeface="Malgun Gothic"/>
                <a:ea typeface="Malgun Gothic"/>
                <a:cs typeface="Malgun Gothic"/>
              </a:rPr>
              <a:t>Flutter 클라이언트가 REST API와 STOMP WebSocket으로 Spring Boot 백엔드에 연결되고, PostGIS/Redis/모니터링 인프라가 운영을 지원합니다.</a:t>
            </a:r>
          </a:p>
        </p:txBody>
      </p:sp>
      <p:sp>
        <p:nvSpPr>
          <p:cNvPr id="5" name="date-note">
            <a:extLst>
              <a:ext uri="{FF2B5EF4-FFF2-40B4-BE49-F238E27FC236}">
                <a16:creationId xmlns:a16="http://schemas.microsoft.com/office/drawing/2014/main" id="{047F1EDC-5BA4-4CBF-BAC6-977525E54013}"/>
              </a:ext>
            </a:extLst>
          </p:cNvPr>
          <p:cNvSpPr>
            <a:spLocks noGrp="1"/>
          </p:cNvSpPr>
          <p:nvPr/>
        </p:nvSpPr>
        <p:spPr>
          <a:xfrm>
            <a:off x="10096500" y="5143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rPr>
              <a:t>Frontend + Backend</a:t>
            </a:r>
          </a:p>
        </p:txBody>
      </p:sp>
      <p:sp>
        <p:nvSpPr>
          <p:cNvPr id="6" name="label-client">
            <a:extLst>
              <a:ext uri="{FF2B5EF4-FFF2-40B4-BE49-F238E27FC236}">
                <a16:creationId xmlns:a16="http://schemas.microsoft.com/office/drawing/2014/main" id="{605490C2-044C-4500-BA39-4F0A9F61B064}"/>
              </a:ext>
            </a:extLst>
          </p:cNvPr>
          <p:cNvSpPr>
            <a:spLocks noGrp="1"/>
          </p:cNvSpPr>
          <p:nvPr/>
        </p:nvSpPr>
        <p:spPr>
          <a:xfrm>
            <a:off x="876300" y="169545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rPr>
              <a:t>Frontend App</a:t>
            </a:r>
          </a:p>
        </p:txBody>
      </p:sp>
      <p:sp>
        <p:nvSpPr>
          <p:cNvPr id="7" name="label-entry">
            <a:extLst>
              <a:ext uri="{FF2B5EF4-FFF2-40B4-BE49-F238E27FC236}">
                <a16:creationId xmlns:a16="http://schemas.microsoft.com/office/drawing/2014/main" id="{4D444381-8DEE-4535-B1F2-1B563B8C667E}"/>
              </a:ext>
            </a:extLst>
          </p:cNvPr>
          <p:cNvSpPr>
            <a:spLocks noGrp="1"/>
          </p:cNvSpPr>
          <p:nvPr/>
        </p:nvSpPr>
        <p:spPr>
          <a:xfrm>
            <a:off x="3505200" y="1695450"/>
            <a:ext cx="1428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rPr>
              <a:t>API / Auth</a:t>
            </a:r>
          </a:p>
        </p:txBody>
      </p:sp>
      <p:sp>
        <p:nvSpPr>
          <p:cNvPr id="8" name="label-backend">
            <a:extLst>
              <a:ext uri="{FF2B5EF4-FFF2-40B4-BE49-F238E27FC236}">
                <a16:creationId xmlns:a16="http://schemas.microsoft.com/office/drawing/2014/main" id="{5DD2D957-7664-4DAA-A7DB-93422B853630}"/>
              </a:ext>
            </a:extLst>
          </p:cNvPr>
          <p:cNvSpPr>
            <a:spLocks noGrp="1"/>
          </p:cNvSpPr>
          <p:nvPr/>
        </p:nvSpPr>
        <p:spPr>
          <a:xfrm>
            <a:off x="5715000" y="1695450"/>
            <a:ext cx="2762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rPr>
              <a:t>Backend Domain</a:t>
            </a:r>
          </a:p>
        </p:txBody>
      </p:sp>
      <p:sp>
        <p:nvSpPr>
          <p:cNvPr id="9" name="label-data">
            <a:extLst>
              <a:ext uri="{FF2B5EF4-FFF2-40B4-BE49-F238E27FC236}">
                <a16:creationId xmlns:a16="http://schemas.microsoft.com/office/drawing/2014/main" id="{25542875-0A33-41A3-BF68-3FC65CAA1DFB}"/>
              </a:ext>
            </a:extLst>
          </p:cNvPr>
          <p:cNvSpPr>
            <a:spLocks noGrp="1"/>
          </p:cNvSpPr>
          <p:nvPr/>
        </p:nvSpPr>
        <p:spPr>
          <a:xfrm>
            <a:off x="9086850" y="1695450"/>
            <a:ext cx="2381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defRPr>
            </a:pPr>
            <a:r>
              <a:rPr sz="975" b="1">
                <a:solidFill>
                  <a:srgbClr val="657188"/>
                </a:solidFill>
                <a:latin typeface="Malgun Gothic"/>
                <a:ea typeface="Malgun Gothic"/>
                <a:cs typeface="Malgun Gothic"/>
              </a:rPr>
              <a:t>Data / Realtime</a:t>
            </a:r>
          </a:p>
        </p:txBody>
      </p:sp>
      <p:sp>
        <p:nvSpPr>
          <p:cNvPr id="10" name="flutter-client">
            <a:extLst>
              <a:ext uri="{FF2B5EF4-FFF2-40B4-BE49-F238E27FC236}">
                <a16:creationId xmlns:a16="http://schemas.microsoft.com/office/drawing/2014/main" id="{6ADFFB11-8A05-4C12-ACA8-DF83A5955BF3}"/>
              </a:ext>
            </a:extLst>
          </p:cNvPr>
          <p:cNvSpPr>
            <a:spLocks noGrp="1"/>
          </p:cNvSpPr>
          <p:nvPr/>
        </p:nvSpPr>
        <p:spPr>
          <a:xfrm>
            <a:off x="533400" y="2047875"/>
            <a:ext cx="2476500" cy="257175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1430">
            <a:solidFill>
              <a:srgbClr val="B7C7D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1" name="flutter-client-title">
            <a:extLst>
              <a:ext uri="{FF2B5EF4-FFF2-40B4-BE49-F238E27FC236}">
                <a16:creationId xmlns:a16="http://schemas.microsoft.com/office/drawing/2014/main" id="{137A8916-1B75-4B8A-8F34-3D47CDFD1337}"/>
              </a:ext>
            </a:extLst>
          </p:cNvPr>
          <p:cNvSpPr>
            <a:spLocks noGrp="1"/>
          </p:cNvSpPr>
          <p:nvPr/>
        </p:nvSpPr>
        <p:spPr>
          <a:xfrm>
            <a:off x="685800" y="2171700"/>
            <a:ext cx="2171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Flutter Client</a:t>
            </a:r>
          </a:p>
        </p:txBody>
      </p:sp>
      <p:sp>
        <p:nvSpPr>
          <p:cNvPr id="12" name="flutter-client-body">
            <a:extLst>
              <a:ext uri="{FF2B5EF4-FFF2-40B4-BE49-F238E27FC236}">
                <a16:creationId xmlns:a16="http://schemas.microsoft.com/office/drawing/2014/main" id="{7A7E7E16-D052-41B7-812F-2447903693E6}"/>
              </a:ext>
            </a:extLst>
          </p:cNvPr>
          <p:cNvSpPr>
            <a:spLocks noGrp="1"/>
          </p:cNvSpPr>
          <p:nvPr/>
        </p:nvSpPr>
        <p:spPr>
          <a:xfrm>
            <a:off x="704850" y="2600325"/>
            <a:ext cx="21336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Flutter 3.x · Dart SDK 3.8</a:t>
            </a:r>
          </a:p>
          <a:p>
            <a:pPr algn="ctr">
              <a:def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Riverpod · GoRouter</a:t>
            </a:r>
          </a:p>
          <a:p>
            <a:pPr algn="ctr">
              <a:def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Dio + AuthInterceptor</a:t>
            </a:r>
          </a:p>
          <a:p>
            <a:pPr algn="ctr">
              <a:def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SecureStorage · SharedPrefs</a:t>
            </a:r>
          </a:p>
          <a:p>
            <a:pPr algn="ctr">
              <a:def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Google Maps · Geolocator</a:t>
            </a:r>
          </a:p>
          <a:p>
            <a:pPr algn="ctr">
              <a:def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Firebase Messaging · Kakao Login</a:t>
            </a:r>
          </a:p>
        </p:txBody>
      </p:sp>
      <p:sp>
        <p:nvSpPr>
          <p:cNvPr id="13" name="frontend-features">
            <a:extLst>
              <a:ext uri="{FF2B5EF4-FFF2-40B4-BE49-F238E27FC236}">
                <a16:creationId xmlns:a16="http://schemas.microsoft.com/office/drawing/2014/main" id="{6FBD4FAF-0A44-486F-94EF-5C4BC0364F3C}"/>
              </a:ext>
            </a:extLst>
          </p:cNvPr>
          <p:cNvSpPr>
            <a:spLocks noGrp="1"/>
          </p:cNvSpPr>
          <p:nvPr/>
        </p:nvSpPr>
        <p:spPr>
          <a:xfrm>
            <a:off x="723900" y="3829050"/>
            <a:ext cx="2095500" cy="628650"/>
          </a:xfrm>
          <a:prstGeom prst="roundRect">
            <a:avLst>
              <a:gd name="adj" fmla="val 12121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frontend-features-title">
            <a:extLst>
              <a:ext uri="{FF2B5EF4-FFF2-40B4-BE49-F238E27FC236}">
                <a16:creationId xmlns:a16="http://schemas.microsoft.com/office/drawing/2014/main" id="{2BC7A781-BF3A-4357-9C57-6A794B795ACA}"/>
              </a:ext>
            </a:extLst>
          </p:cNvPr>
          <p:cNvSpPr>
            <a:spLocks noGrp="1"/>
          </p:cNvSpPr>
          <p:nvPr/>
        </p:nvSpPr>
        <p:spPr>
          <a:xfrm>
            <a:off x="876300" y="3952875"/>
            <a:ext cx="17907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Feature Modules</a:t>
            </a:r>
          </a:p>
        </p:txBody>
      </p:sp>
      <p:sp>
        <p:nvSpPr>
          <p:cNvPr id="15" name="frontend-features-body">
            <a:extLst>
              <a:ext uri="{FF2B5EF4-FFF2-40B4-BE49-F238E27FC236}">
                <a16:creationId xmlns:a16="http://schemas.microsoft.com/office/drawing/2014/main" id="{98684E6D-B98C-4A40-AF52-EB3091D50F0A}"/>
              </a:ext>
            </a:extLst>
          </p:cNvPr>
          <p:cNvSpPr>
            <a:spLocks noGrp="1"/>
          </p:cNvSpPr>
          <p:nvPr/>
        </p:nvSpPr>
        <p:spPr>
          <a:xfrm>
            <a:off x="895350" y="4105275"/>
            <a:ext cx="1752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Running · Spot · Group Running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Profile · Shop · Run Share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Notifications · Settings</a:t>
            </a:r>
          </a:p>
        </p:txBody>
      </p:sp>
      <p:sp>
        <p:nvSpPr>
          <p:cNvPr id="16" name="api-security">
            <a:extLst>
              <a:ext uri="{FF2B5EF4-FFF2-40B4-BE49-F238E27FC236}">
                <a16:creationId xmlns:a16="http://schemas.microsoft.com/office/drawing/2014/main" id="{A43ED2D7-8CDA-4BCF-9A84-2D1F2F6C6B51}"/>
              </a:ext>
            </a:extLst>
          </p:cNvPr>
          <p:cNvSpPr>
            <a:spLocks noGrp="1"/>
          </p:cNvSpPr>
          <p:nvPr/>
        </p:nvSpPr>
        <p:spPr>
          <a:xfrm>
            <a:off x="3390900" y="2047875"/>
            <a:ext cx="1676400" cy="2571750"/>
          </a:xfrm>
          <a:prstGeom prst="roundRect">
            <a:avLst>
              <a:gd name="adj" fmla="val 4545"/>
            </a:avLst>
          </a:prstGeom>
          <a:solidFill>
            <a:srgbClr val="EAF2FF"/>
          </a:solidFill>
          <a:ln w="11430">
            <a:solidFill>
              <a:srgbClr val="9BBBF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17" name="api-security-title">
            <a:extLst>
              <a:ext uri="{FF2B5EF4-FFF2-40B4-BE49-F238E27FC236}">
                <a16:creationId xmlns:a16="http://schemas.microsoft.com/office/drawing/2014/main" id="{60387D1C-97CD-4A9B-8262-B354419BD155}"/>
              </a:ext>
            </a:extLst>
          </p:cNvPr>
          <p:cNvSpPr>
            <a:spLocks noGrp="1"/>
          </p:cNvSpPr>
          <p:nvPr/>
        </p:nvSpPr>
        <p:spPr>
          <a:xfrm>
            <a:off x="3543300" y="2171700"/>
            <a:ext cx="1371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D55B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D55B5"/>
                </a:solidFill>
                <a:latin typeface="Malgun Gothic"/>
                <a:ea typeface="Malgun Gothic"/>
                <a:cs typeface="Malgun Gothic"/>
              </a:rPr>
              <a:t>REST API + Security</a:t>
            </a:r>
          </a:p>
        </p:txBody>
      </p:sp>
      <p:sp>
        <p:nvSpPr>
          <p:cNvPr id="18" name="api-security-body">
            <a:extLst>
              <a:ext uri="{FF2B5EF4-FFF2-40B4-BE49-F238E27FC236}">
                <a16:creationId xmlns:a16="http://schemas.microsoft.com/office/drawing/2014/main" id="{71986A89-2813-41F7-9121-6D1F6C40D86F}"/>
              </a:ext>
            </a:extLst>
          </p:cNvPr>
          <p:cNvSpPr>
            <a:spLocks noGrp="1"/>
          </p:cNvSpPr>
          <p:nvPr/>
        </p:nvSpPr>
        <p:spPr>
          <a:xfrm>
            <a:off x="3562350" y="2600325"/>
            <a:ext cx="1333500" cy="1924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Spring MVC Controller</a:t>
            </a:r>
          </a:p>
          <a:p>
            <a:pPr algn="ctr">
              <a:def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Spring Security</a:t>
            </a:r>
          </a:p>
          <a:p>
            <a:pPr algn="ctr">
              <a:def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JWT Access / Refresh</a:t>
            </a:r>
          </a:p>
          <a:p>
            <a:pPr algn="ctr">
              <a:def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75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Swagger OpenAPI</a:t>
            </a:r>
          </a:p>
        </p:txBody>
      </p:sp>
      <p:sp>
        <p:nvSpPr>
          <p:cNvPr id="19" name="backend-frame">
            <a:extLst>
              <a:ext uri="{FF2B5EF4-FFF2-40B4-BE49-F238E27FC236}">
                <a16:creationId xmlns:a16="http://schemas.microsoft.com/office/drawing/2014/main" id="{BDD2DA9F-B6DC-49EA-8ADD-82DA82F08FE8}"/>
              </a:ext>
            </a:extLst>
          </p:cNvPr>
          <p:cNvSpPr>
            <a:spLocks noGrp="1"/>
          </p:cNvSpPr>
          <p:nvPr/>
        </p:nvSpPr>
        <p:spPr>
          <a:xfrm>
            <a:off x="5429250" y="2047875"/>
            <a:ext cx="3048000" cy="257175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 w="13335">
            <a:solidFill>
              <a:srgbClr val="C9D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20" name="backend-title">
            <a:extLst>
              <a:ext uri="{FF2B5EF4-FFF2-40B4-BE49-F238E27FC236}">
                <a16:creationId xmlns:a16="http://schemas.microsoft.com/office/drawing/2014/main" id="{FEC3CAE4-3BA8-41B1-B5CB-855BD704C041}"/>
              </a:ext>
            </a:extLst>
          </p:cNvPr>
          <p:cNvSpPr>
            <a:spLocks noGrp="1"/>
          </p:cNvSpPr>
          <p:nvPr/>
        </p:nvSpPr>
        <p:spPr>
          <a:xfrm>
            <a:off x="5657850" y="2209800"/>
            <a:ext cx="25908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5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Spring Boot Application</a:t>
            </a:r>
          </a:p>
        </p:txBody>
      </p:sp>
      <p:sp>
        <p:nvSpPr>
          <p:cNvPr id="21" name="backend-subtitle">
            <a:extLst>
              <a:ext uri="{FF2B5EF4-FFF2-40B4-BE49-F238E27FC236}">
                <a16:creationId xmlns:a16="http://schemas.microsoft.com/office/drawing/2014/main" id="{AFF6A04E-0D7D-4C2B-AEA3-2195E9947E86}"/>
              </a:ext>
            </a:extLst>
          </p:cNvPr>
          <p:cNvSpPr>
            <a:spLocks noGrp="1"/>
          </p:cNvSpPr>
          <p:nvPr/>
        </p:nvSpPr>
        <p:spPr>
          <a:xfrm>
            <a:off x="5657850" y="2505075"/>
            <a:ext cx="25908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>
                <a:solidFill>
                  <a:srgbClr val="657188"/>
                </a:solidFill>
                <a:latin typeface="Malgun Gothic"/>
                <a:ea typeface="Malgun Gothic"/>
                <a:cs typeface="Malgun Gothic"/>
              </a:defRPr>
            </a:pPr>
            <a:r>
              <a:rPr sz="938">
                <a:solidFill>
                  <a:srgbClr val="657188"/>
                </a:solidFill>
                <a:latin typeface="Malgun Gothic"/>
                <a:ea typeface="Malgun Gothic"/>
                <a:cs typeface="Malgun Gothic"/>
              </a:rPr>
              <a:t>Java 17 · Spring Boot 3.4 · JPA · QueryDSL</a:t>
            </a:r>
          </a:p>
        </p:txBody>
      </p:sp>
      <p:sp>
        <p:nvSpPr>
          <p:cNvPr id="22" name="module-auth">
            <a:extLst>
              <a:ext uri="{FF2B5EF4-FFF2-40B4-BE49-F238E27FC236}">
                <a16:creationId xmlns:a16="http://schemas.microsoft.com/office/drawing/2014/main" id="{1F1B41A1-FC54-4090-A667-0A7C4A4697E9}"/>
              </a:ext>
            </a:extLst>
          </p:cNvPr>
          <p:cNvSpPr>
            <a:spLocks noGrp="1"/>
          </p:cNvSpPr>
          <p:nvPr/>
        </p:nvSpPr>
        <p:spPr>
          <a:xfrm>
            <a:off x="5638800" y="2914650"/>
            <a:ext cx="1104900" cy="409575"/>
          </a:xfrm>
          <a:prstGeom prst="roundRect">
            <a:avLst>
              <a:gd name="adj" fmla="val 18605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module-auth-title">
            <a:extLst>
              <a:ext uri="{FF2B5EF4-FFF2-40B4-BE49-F238E27FC236}">
                <a16:creationId xmlns:a16="http://schemas.microsoft.com/office/drawing/2014/main" id="{8B8A5CD2-A937-4E10-9753-44906A8437F2}"/>
              </a:ext>
            </a:extLst>
          </p:cNvPr>
          <p:cNvSpPr>
            <a:spLocks noGrp="1"/>
          </p:cNvSpPr>
          <p:nvPr/>
        </p:nvSpPr>
        <p:spPr>
          <a:xfrm>
            <a:off x="5791200" y="3005138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Auth / Member</a:t>
            </a:r>
          </a:p>
        </p:txBody>
      </p:sp>
      <p:sp>
        <p:nvSpPr>
          <p:cNvPr id="24" name="module-run">
            <a:extLst>
              <a:ext uri="{FF2B5EF4-FFF2-40B4-BE49-F238E27FC236}">
                <a16:creationId xmlns:a16="http://schemas.microsoft.com/office/drawing/2014/main" id="{D355D2CE-9A51-4E1B-9516-1953E9CEF2E8}"/>
              </a:ext>
            </a:extLst>
          </p:cNvPr>
          <p:cNvSpPr>
            <a:spLocks noGrp="1"/>
          </p:cNvSpPr>
          <p:nvPr/>
        </p:nvSpPr>
        <p:spPr>
          <a:xfrm>
            <a:off x="6877050" y="2914650"/>
            <a:ext cx="1104900" cy="409575"/>
          </a:xfrm>
          <a:prstGeom prst="roundRect">
            <a:avLst>
              <a:gd name="adj" fmla="val 18605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module-run-title">
            <a:extLst>
              <a:ext uri="{FF2B5EF4-FFF2-40B4-BE49-F238E27FC236}">
                <a16:creationId xmlns:a16="http://schemas.microsoft.com/office/drawing/2014/main" id="{D8E8B428-E756-4E5B-86BF-B1EDB353360D}"/>
              </a:ext>
            </a:extLst>
          </p:cNvPr>
          <p:cNvSpPr>
            <a:spLocks noGrp="1"/>
          </p:cNvSpPr>
          <p:nvPr/>
        </p:nvSpPr>
        <p:spPr>
          <a:xfrm>
            <a:off x="7029450" y="3005138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Running</a:t>
            </a:r>
          </a:p>
        </p:txBody>
      </p:sp>
      <p:sp>
        <p:nvSpPr>
          <p:cNvPr id="26" name="module-group">
            <a:extLst>
              <a:ext uri="{FF2B5EF4-FFF2-40B4-BE49-F238E27FC236}">
                <a16:creationId xmlns:a16="http://schemas.microsoft.com/office/drawing/2014/main" id="{ED1FBF68-4968-4246-A13D-9B1F60E021AB}"/>
              </a:ext>
            </a:extLst>
          </p:cNvPr>
          <p:cNvSpPr>
            <a:spLocks noGrp="1"/>
          </p:cNvSpPr>
          <p:nvPr/>
        </p:nvSpPr>
        <p:spPr>
          <a:xfrm>
            <a:off x="5638800" y="3429000"/>
            <a:ext cx="1104900" cy="409575"/>
          </a:xfrm>
          <a:prstGeom prst="roundRect">
            <a:avLst>
              <a:gd name="adj" fmla="val 18605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module-group-title">
            <a:extLst>
              <a:ext uri="{FF2B5EF4-FFF2-40B4-BE49-F238E27FC236}">
                <a16:creationId xmlns:a16="http://schemas.microsoft.com/office/drawing/2014/main" id="{6E46E3E6-A530-4AEB-9EF8-9026E71D435C}"/>
              </a:ext>
            </a:extLst>
          </p:cNvPr>
          <p:cNvSpPr>
            <a:spLocks noGrp="1"/>
          </p:cNvSpPr>
          <p:nvPr/>
        </p:nvSpPr>
        <p:spPr>
          <a:xfrm>
            <a:off x="5791200" y="3519488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Group Running</a:t>
            </a:r>
          </a:p>
        </p:txBody>
      </p:sp>
      <p:sp>
        <p:nvSpPr>
          <p:cNvPr id="28" name="module-social">
            <a:extLst>
              <a:ext uri="{FF2B5EF4-FFF2-40B4-BE49-F238E27FC236}">
                <a16:creationId xmlns:a16="http://schemas.microsoft.com/office/drawing/2014/main" id="{4C956A8C-1869-49F6-8684-332FE432BD91}"/>
              </a:ext>
            </a:extLst>
          </p:cNvPr>
          <p:cNvSpPr>
            <a:spLocks noGrp="1"/>
          </p:cNvSpPr>
          <p:nvPr/>
        </p:nvSpPr>
        <p:spPr>
          <a:xfrm>
            <a:off x="6877050" y="3429000"/>
            <a:ext cx="1104900" cy="409575"/>
          </a:xfrm>
          <a:prstGeom prst="roundRect">
            <a:avLst>
              <a:gd name="adj" fmla="val 18605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module-social-title">
            <a:extLst>
              <a:ext uri="{FF2B5EF4-FFF2-40B4-BE49-F238E27FC236}">
                <a16:creationId xmlns:a16="http://schemas.microsoft.com/office/drawing/2014/main" id="{A0D1550A-40F5-4010-8887-46CB5733E648}"/>
              </a:ext>
            </a:extLst>
          </p:cNvPr>
          <p:cNvSpPr>
            <a:spLocks noGrp="1"/>
          </p:cNvSpPr>
          <p:nvPr/>
        </p:nvSpPr>
        <p:spPr>
          <a:xfrm>
            <a:off x="7029450" y="3519488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Profile / Social</a:t>
            </a:r>
          </a:p>
        </p:txBody>
      </p:sp>
      <p:sp>
        <p:nvSpPr>
          <p:cNvPr id="30" name="module-spot">
            <a:extLst>
              <a:ext uri="{FF2B5EF4-FFF2-40B4-BE49-F238E27FC236}">
                <a16:creationId xmlns:a16="http://schemas.microsoft.com/office/drawing/2014/main" id="{31B54427-3A16-41E0-B419-0E8AD11D321C}"/>
              </a:ext>
            </a:extLst>
          </p:cNvPr>
          <p:cNvSpPr>
            <a:spLocks noGrp="1"/>
          </p:cNvSpPr>
          <p:nvPr/>
        </p:nvSpPr>
        <p:spPr>
          <a:xfrm>
            <a:off x="5638800" y="3943350"/>
            <a:ext cx="1104900" cy="409575"/>
          </a:xfrm>
          <a:prstGeom prst="roundRect">
            <a:avLst>
              <a:gd name="adj" fmla="val 18605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module-spot-title">
            <a:extLst>
              <a:ext uri="{FF2B5EF4-FFF2-40B4-BE49-F238E27FC236}">
                <a16:creationId xmlns:a16="http://schemas.microsoft.com/office/drawing/2014/main" id="{8E7C607F-66BE-4CBA-8ED5-A9EFBB8D0A0B}"/>
              </a:ext>
            </a:extLst>
          </p:cNvPr>
          <p:cNvSpPr>
            <a:spLocks noGrp="1"/>
          </p:cNvSpPr>
          <p:nvPr/>
        </p:nvSpPr>
        <p:spPr>
          <a:xfrm>
            <a:off x="5791200" y="4033838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Spot / Check-in</a:t>
            </a:r>
          </a:p>
        </p:txBody>
      </p:sp>
      <p:sp>
        <p:nvSpPr>
          <p:cNvPr id="32" name="module-rank">
            <a:extLst>
              <a:ext uri="{FF2B5EF4-FFF2-40B4-BE49-F238E27FC236}">
                <a16:creationId xmlns:a16="http://schemas.microsoft.com/office/drawing/2014/main" id="{CC100DD5-0ACB-40A9-A50B-3ABEE9475C5E}"/>
              </a:ext>
            </a:extLst>
          </p:cNvPr>
          <p:cNvSpPr>
            <a:spLocks noGrp="1"/>
          </p:cNvSpPr>
          <p:nvPr/>
        </p:nvSpPr>
        <p:spPr>
          <a:xfrm>
            <a:off x="6877050" y="3943350"/>
            <a:ext cx="1104900" cy="409575"/>
          </a:xfrm>
          <a:prstGeom prst="roundRect">
            <a:avLst>
              <a:gd name="adj" fmla="val 18605"/>
            </a:avLst>
          </a:prstGeom>
          <a:solidFill>
            <a:srgbClr val="F7FAFF"/>
          </a:solidFill>
          <a:ln w="11430">
            <a:solidFill>
              <a:srgbClr val="D7E3F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module-rank-title">
            <a:extLst>
              <a:ext uri="{FF2B5EF4-FFF2-40B4-BE49-F238E27FC236}">
                <a16:creationId xmlns:a16="http://schemas.microsoft.com/office/drawing/2014/main" id="{B1BA2A00-356E-4307-9D47-DB518E509C9D}"/>
              </a:ext>
            </a:extLst>
          </p:cNvPr>
          <p:cNvSpPr>
            <a:spLocks noGrp="1"/>
          </p:cNvSpPr>
          <p:nvPr/>
        </p:nvSpPr>
        <p:spPr>
          <a:xfrm>
            <a:off x="7029450" y="4033838"/>
            <a:ext cx="8001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defRPr>
            </a:pPr>
            <a:r>
              <a:rPr sz="863" b="1">
                <a:solidFill>
                  <a:srgbClr val="26496F"/>
                </a:solidFill>
                <a:latin typeface="Malgun Gothic"/>
                <a:ea typeface="Malgun Gothic"/>
                <a:cs typeface="Malgun Gothic"/>
              </a:rPr>
              <a:t>Point / Ranking</a:t>
            </a:r>
          </a:p>
        </p:txBody>
      </p:sp>
      <p:sp>
        <p:nvSpPr>
          <p:cNvPr id="34" name="postgis">
            <a:extLst>
              <a:ext uri="{FF2B5EF4-FFF2-40B4-BE49-F238E27FC236}">
                <a16:creationId xmlns:a16="http://schemas.microsoft.com/office/drawing/2014/main" id="{2ACB290D-62C7-482A-87FF-4C59B486DAF6}"/>
              </a:ext>
            </a:extLst>
          </p:cNvPr>
          <p:cNvSpPr>
            <a:spLocks noGrp="1"/>
          </p:cNvSpPr>
          <p:nvPr/>
        </p:nvSpPr>
        <p:spPr>
          <a:xfrm>
            <a:off x="9029700" y="2047875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EAF7EF"/>
          </a:solidFill>
          <a:ln w="11430">
            <a:solidFill>
              <a:srgbClr val="9BCDAE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5" name="postgis-title">
            <a:extLst>
              <a:ext uri="{FF2B5EF4-FFF2-40B4-BE49-F238E27FC236}">
                <a16:creationId xmlns:a16="http://schemas.microsoft.com/office/drawing/2014/main" id="{443CA4E9-4AD1-4A1B-91E5-27E51E275A01}"/>
              </a:ext>
            </a:extLst>
          </p:cNvPr>
          <p:cNvSpPr>
            <a:spLocks noGrp="1"/>
          </p:cNvSpPr>
          <p:nvPr/>
        </p:nvSpPr>
        <p:spPr>
          <a:xfrm>
            <a:off x="9182100" y="2171700"/>
            <a:ext cx="2076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E8B57"/>
                </a:solidFill>
                <a:latin typeface="Malgun Gothic"/>
                <a:ea typeface="Malgun Gothic"/>
                <a:cs typeface="Malgun Gothic"/>
              </a:rPr>
              <a:t>PostgreSQL + PostGIS</a:t>
            </a:r>
          </a:p>
        </p:txBody>
      </p:sp>
      <p:sp>
        <p:nvSpPr>
          <p:cNvPr id="36" name="postgis-body">
            <a:extLst>
              <a:ext uri="{FF2B5EF4-FFF2-40B4-BE49-F238E27FC236}">
                <a16:creationId xmlns:a16="http://schemas.microsoft.com/office/drawing/2014/main" id="{2BBD02E4-60F3-40C1-9CE4-A99C0927F7E5}"/>
              </a:ext>
            </a:extLst>
          </p:cNvPr>
          <p:cNvSpPr>
            <a:spLocks noGrp="1"/>
          </p:cNvSpPr>
          <p:nvPr/>
        </p:nvSpPr>
        <p:spPr>
          <a:xfrm>
            <a:off x="9201150" y="2600325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회원·러닝 기록·그룹·스팟</a:t>
            </a:r>
          </a:p>
          <a:p>
            <a:pPr algn="ctr">
              <a:def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공간 데이터 / 반경 조회</a:t>
            </a:r>
          </a:p>
          <a:p>
            <a:pPr algn="ctr">
              <a:def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LineString 위치 경로 저장</a:t>
            </a:r>
          </a:p>
        </p:txBody>
      </p:sp>
      <p:sp>
        <p:nvSpPr>
          <p:cNvPr id="37" name="redis">
            <a:extLst>
              <a:ext uri="{FF2B5EF4-FFF2-40B4-BE49-F238E27FC236}">
                <a16:creationId xmlns:a16="http://schemas.microsoft.com/office/drawing/2014/main" id="{FAF51548-557F-4AFB-80A7-A0F8DE49733D}"/>
              </a:ext>
            </a:extLst>
          </p:cNvPr>
          <p:cNvSpPr>
            <a:spLocks noGrp="1"/>
          </p:cNvSpPr>
          <p:nvPr/>
        </p:nvSpPr>
        <p:spPr>
          <a:xfrm>
            <a:off x="9029700" y="3448050"/>
            <a:ext cx="2381250" cy="1104900"/>
          </a:xfrm>
          <a:prstGeom prst="roundRect">
            <a:avLst>
              <a:gd name="adj" fmla="val 6897"/>
            </a:avLst>
          </a:prstGeom>
          <a:solidFill>
            <a:srgbClr val="FFF1EC"/>
          </a:solidFill>
          <a:ln w="11430">
            <a:solidFill>
              <a:srgbClr val="F2B39F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38" name="redis-title">
            <a:extLst>
              <a:ext uri="{FF2B5EF4-FFF2-40B4-BE49-F238E27FC236}">
                <a16:creationId xmlns:a16="http://schemas.microsoft.com/office/drawing/2014/main" id="{DE4CC54B-FFFF-49D3-A684-F0440535115C}"/>
              </a:ext>
            </a:extLst>
          </p:cNvPr>
          <p:cNvSpPr>
            <a:spLocks noGrp="1"/>
          </p:cNvSpPr>
          <p:nvPr/>
        </p:nvSpPr>
        <p:spPr>
          <a:xfrm>
            <a:off x="9182100" y="3571875"/>
            <a:ext cx="2076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D94C31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D94C31"/>
                </a:solidFill>
                <a:latin typeface="Malgun Gothic"/>
                <a:ea typeface="Malgun Gothic"/>
                <a:cs typeface="Malgun Gothic"/>
              </a:rPr>
              <a:t>Redis</a:t>
            </a:r>
          </a:p>
        </p:txBody>
      </p:sp>
      <p:sp>
        <p:nvSpPr>
          <p:cNvPr id="39" name="redis-body">
            <a:extLst>
              <a:ext uri="{FF2B5EF4-FFF2-40B4-BE49-F238E27FC236}">
                <a16:creationId xmlns:a16="http://schemas.microsoft.com/office/drawing/2014/main" id="{C624BEFE-5460-414B-90F2-43FDB673F5F0}"/>
              </a:ext>
            </a:extLst>
          </p:cNvPr>
          <p:cNvSpPr>
            <a:spLocks noGrp="1"/>
          </p:cNvSpPr>
          <p:nvPr/>
        </p:nvSpPr>
        <p:spPr>
          <a:xfrm>
            <a:off x="9201150" y="4000500"/>
            <a:ext cx="20383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Refresh Token 저장</a:t>
            </a:r>
          </a:p>
          <a:p>
            <a:pPr algn="ctr">
              <a:def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Access Token 블랙리스트</a:t>
            </a:r>
          </a:p>
          <a:p>
            <a:pPr algn="ctr">
              <a:def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900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Pub/Sub 위치 브로드캐스트</a:t>
            </a:r>
          </a:p>
        </p:txBody>
      </p:sp>
      <p:cxnSp>
        <p:nvCxnSpPr>
          <p:cNvPr id="101" name="직선 화살표 연결선 100"/>
          <p:cNvCxnSpPr>
            <a:stCxn id="10" idx="3"/>
            <a:endCxn id="16" idx="1"/>
          </p:cNvCxnSpPr>
          <p:nvPr/>
        </p:nvCxnSpPr>
        <p:spPr>
          <a:xfrm>
            <a:off x="3009900" y="3333750"/>
            <a:ext cx="381000" cy="0"/>
          </a:xfrm>
          <a:prstGeom prst="straightConnector1">
            <a:avLst/>
          </a:prstGeom>
          <a:ln w="21908">
            <a:solidFill>
              <a:srgbClr val="2D6CDF"/>
            </a:solidFill>
            <a:prstDash val="solid"/>
            <a:tailEnd type="arrow" w="med" len="med"/>
          </a:ln>
        </p:spPr>
      </p:cxnSp>
      <p:cxnSp>
        <p:nvCxnSpPr>
          <p:cNvPr id="102" name="직선 화살표 연결선 101"/>
          <p:cNvCxnSpPr>
            <a:stCxn id="16" idx="3"/>
            <a:endCxn id="19" idx="1"/>
          </p:cNvCxnSpPr>
          <p:nvPr/>
        </p:nvCxnSpPr>
        <p:spPr>
          <a:xfrm>
            <a:off x="5067300" y="3333750"/>
            <a:ext cx="361950" cy="0"/>
          </a:xfrm>
          <a:prstGeom prst="straightConnector1">
            <a:avLst/>
          </a:prstGeom>
          <a:ln w="21908">
            <a:solidFill>
              <a:srgbClr val="2D6CDF"/>
            </a:solidFill>
            <a:prstDash val="solid"/>
            <a:tailEnd type="arrow" w="med" len="med"/>
          </a:ln>
        </p:spPr>
      </p:cxnSp>
      <p:cxnSp>
        <p:nvCxnSpPr>
          <p:cNvPr id="103" name="직선 화살표 연결선 102"/>
          <p:cNvCxnSpPr>
            <a:stCxn id="19" idx="3"/>
            <a:endCxn id="34" idx="1"/>
          </p:cNvCxnSpPr>
          <p:nvPr/>
        </p:nvCxnSpPr>
        <p:spPr>
          <a:xfrm flipV="1">
            <a:off x="8477250" y="2600325"/>
            <a:ext cx="552450" cy="733425"/>
          </a:xfrm>
          <a:prstGeom prst="straightConnector1">
            <a:avLst/>
          </a:prstGeom>
          <a:ln w="20955">
            <a:solidFill>
              <a:srgbClr val="2E8B57"/>
            </a:solidFill>
            <a:prstDash val="solid"/>
            <a:tailEnd type="arrow" w="med" len="med"/>
          </a:ln>
        </p:spPr>
      </p:cxnSp>
      <p:cxnSp>
        <p:nvCxnSpPr>
          <p:cNvPr id="104" name="직선 화살표 연결선 103"/>
          <p:cNvCxnSpPr>
            <a:stCxn id="19" idx="3"/>
            <a:endCxn id="37" idx="1"/>
          </p:cNvCxnSpPr>
          <p:nvPr/>
        </p:nvCxnSpPr>
        <p:spPr>
          <a:xfrm>
            <a:off x="8477250" y="3333750"/>
            <a:ext cx="552450" cy="666750"/>
          </a:xfrm>
          <a:prstGeom prst="straightConnector1">
            <a:avLst/>
          </a:prstGeom>
          <a:ln w="20955">
            <a:solidFill>
              <a:srgbClr val="E85D3F"/>
            </a:solidFill>
            <a:prstDash val="solid"/>
            <a:tailEnd type="arrow" w="med" len="med"/>
          </a:ln>
        </p:spPr>
      </p:cxnSp>
      <p:sp>
        <p:nvSpPr>
          <p:cNvPr id="44" name="rest-label">
            <a:extLst>
              <a:ext uri="{FF2B5EF4-FFF2-40B4-BE49-F238E27FC236}">
                <a16:creationId xmlns:a16="http://schemas.microsoft.com/office/drawing/2014/main" id="{B709C23B-9621-447D-9DD8-5B756ECEF4B4}"/>
              </a:ext>
            </a:extLst>
          </p:cNvPr>
          <p:cNvSpPr>
            <a:spLocks noGrp="1"/>
          </p:cNvSpPr>
          <p:nvPr/>
        </p:nvSpPr>
        <p:spPr>
          <a:xfrm>
            <a:off x="2933700" y="3000375"/>
            <a:ext cx="6858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rPr>
              <a:t>HTTPS / JSON</a:t>
            </a:r>
          </a:p>
          <a:p>
            <a:pPr algn="ctr">
              <a:defRPr sz="82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rPr>
              <a:t>Bearer JWT</a:t>
            </a:r>
          </a:p>
        </p:txBody>
      </p:sp>
      <p:sp>
        <p:nvSpPr>
          <p:cNvPr id="45" name="service-label">
            <a:extLst>
              <a:ext uri="{FF2B5EF4-FFF2-40B4-BE49-F238E27FC236}">
                <a16:creationId xmlns:a16="http://schemas.microsoft.com/office/drawing/2014/main" id="{6BAE45D7-B52D-44A9-86E9-204605DA69BE}"/>
              </a:ext>
            </a:extLst>
          </p:cNvPr>
          <p:cNvSpPr>
            <a:spLocks noGrp="1"/>
          </p:cNvSpPr>
          <p:nvPr/>
        </p:nvSpPr>
        <p:spPr>
          <a:xfrm>
            <a:off x="4914900" y="2781300"/>
            <a:ext cx="1047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2D6CDF"/>
                </a:solidFill>
                <a:latin typeface="Malgun Gothic"/>
                <a:ea typeface="Malgun Gothic"/>
                <a:cs typeface="Malgun Gothic"/>
              </a:rPr>
              <a:t>Service · Repository</a:t>
            </a:r>
          </a:p>
        </p:txBody>
      </p:sp>
      <p:sp>
        <p:nvSpPr>
          <p:cNvPr id="46" name="observability">
            <a:extLst>
              <a:ext uri="{FF2B5EF4-FFF2-40B4-BE49-F238E27FC236}">
                <a16:creationId xmlns:a16="http://schemas.microsoft.com/office/drawing/2014/main" id="{92F8E917-A21D-427C-ABB3-9E9F961CFB59}"/>
              </a:ext>
            </a:extLst>
          </p:cNvPr>
          <p:cNvSpPr>
            <a:spLocks noGrp="1"/>
          </p:cNvSpPr>
          <p:nvPr/>
        </p:nvSpPr>
        <p:spPr>
          <a:xfrm>
            <a:off x="533400" y="5219700"/>
            <a:ext cx="2762250" cy="1028700"/>
          </a:xfrm>
          <a:prstGeom prst="roundRect">
            <a:avLst>
              <a:gd name="adj" fmla="val 7407"/>
            </a:avLst>
          </a:prstGeom>
          <a:solidFill>
            <a:srgbClr val="F1EDFF"/>
          </a:solidFill>
          <a:ln w="11430">
            <a:solidFill>
              <a:srgbClr val="C2B5F6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47" name="observability-title">
            <a:extLst>
              <a:ext uri="{FF2B5EF4-FFF2-40B4-BE49-F238E27FC236}">
                <a16:creationId xmlns:a16="http://schemas.microsoft.com/office/drawing/2014/main" id="{07BB8469-B880-4E54-9FFC-C84A5EB5A41B}"/>
              </a:ext>
            </a:extLst>
          </p:cNvPr>
          <p:cNvSpPr>
            <a:spLocks noGrp="1"/>
          </p:cNvSpPr>
          <p:nvPr/>
        </p:nvSpPr>
        <p:spPr>
          <a:xfrm>
            <a:off x="685800" y="5343525"/>
            <a:ext cx="24574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6F52E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6F52ED"/>
                </a:solidFill>
                <a:latin typeface="Malgun Gothic"/>
                <a:ea typeface="Malgun Gothic"/>
                <a:cs typeface="Malgun Gothic"/>
              </a:rPr>
              <a:t>Monitoring</a:t>
            </a:r>
          </a:p>
        </p:txBody>
      </p:sp>
      <p:sp>
        <p:nvSpPr>
          <p:cNvPr id="48" name="observability-body">
            <a:extLst>
              <a:ext uri="{FF2B5EF4-FFF2-40B4-BE49-F238E27FC236}">
                <a16:creationId xmlns:a16="http://schemas.microsoft.com/office/drawing/2014/main" id="{FAC2E1CD-8151-4DD9-BA67-943F379B9A43}"/>
              </a:ext>
            </a:extLst>
          </p:cNvPr>
          <p:cNvSpPr>
            <a:spLocks noGrp="1"/>
          </p:cNvSpPr>
          <p:nvPr/>
        </p:nvSpPr>
        <p:spPr>
          <a:xfrm>
            <a:off x="704850" y="5734050"/>
            <a:ext cx="24193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Actuator / Prometheus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Loki + Alloy Logs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Grafana Dashboard</a:t>
            </a:r>
          </a:p>
        </p:txBody>
      </p:sp>
      <p:sp>
        <p:nvSpPr>
          <p:cNvPr id="49" name="mobile-deploy">
            <a:extLst>
              <a:ext uri="{FF2B5EF4-FFF2-40B4-BE49-F238E27FC236}">
                <a16:creationId xmlns:a16="http://schemas.microsoft.com/office/drawing/2014/main" id="{EE0CD83F-2CA0-4E0D-952F-C432ED6EB244}"/>
              </a:ext>
            </a:extLst>
          </p:cNvPr>
          <p:cNvSpPr>
            <a:spLocks noGrp="1"/>
          </p:cNvSpPr>
          <p:nvPr/>
        </p:nvSpPr>
        <p:spPr>
          <a:xfrm>
            <a:off x="3657600" y="5219700"/>
            <a:ext cx="3028950" cy="1028700"/>
          </a:xfrm>
          <a:prstGeom prst="roundRect">
            <a:avLst>
              <a:gd name="adj" fmla="val 7407"/>
            </a:avLst>
          </a:prstGeom>
          <a:solidFill>
            <a:srgbClr val="FFF8E8"/>
          </a:solidFill>
          <a:ln w="11430">
            <a:solidFill>
              <a:srgbClr val="F2CF7A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0" name="mobile-deploy-title">
            <a:extLst>
              <a:ext uri="{FF2B5EF4-FFF2-40B4-BE49-F238E27FC236}">
                <a16:creationId xmlns:a16="http://schemas.microsoft.com/office/drawing/2014/main" id="{C7825BFB-55D7-4C77-B51B-68A9E4F40C06}"/>
              </a:ext>
            </a:extLst>
          </p:cNvPr>
          <p:cNvSpPr>
            <a:spLocks noGrp="1"/>
          </p:cNvSpPr>
          <p:nvPr/>
        </p:nvSpPr>
        <p:spPr>
          <a:xfrm>
            <a:off x="3810000" y="5343525"/>
            <a:ext cx="27241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A66A00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A66A00"/>
                </a:solidFill>
                <a:latin typeface="Malgun Gothic"/>
                <a:ea typeface="Malgun Gothic"/>
                <a:cs typeface="Malgun Gothic"/>
              </a:rPr>
              <a:t>Mobile Deploy</a:t>
            </a:r>
          </a:p>
        </p:txBody>
      </p:sp>
      <p:sp>
        <p:nvSpPr>
          <p:cNvPr id="51" name="mobile-deploy-body">
            <a:extLst>
              <a:ext uri="{FF2B5EF4-FFF2-40B4-BE49-F238E27FC236}">
                <a16:creationId xmlns:a16="http://schemas.microsoft.com/office/drawing/2014/main" id="{090C5CA2-7A28-4920-A50D-108D79CF0F1A}"/>
              </a:ext>
            </a:extLst>
          </p:cNvPr>
          <p:cNvSpPr>
            <a:spLocks noGrp="1"/>
          </p:cNvSpPr>
          <p:nvPr/>
        </p:nvSpPr>
        <p:spPr>
          <a:xfrm>
            <a:off x="3829050" y="5734050"/>
            <a:ext cx="26860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Flutter build APK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Firebase App Distribution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GitHub Actions Secrets</a:t>
            </a:r>
          </a:p>
        </p:txBody>
      </p:sp>
      <p:sp>
        <p:nvSpPr>
          <p:cNvPr id="52" name="infra">
            <a:extLst>
              <a:ext uri="{FF2B5EF4-FFF2-40B4-BE49-F238E27FC236}">
                <a16:creationId xmlns:a16="http://schemas.microsoft.com/office/drawing/2014/main" id="{0CD128DF-AFAD-44FA-9900-B7BB8C960830}"/>
              </a:ext>
            </a:extLst>
          </p:cNvPr>
          <p:cNvSpPr>
            <a:spLocks noGrp="1"/>
          </p:cNvSpPr>
          <p:nvPr/>
        </p:nvSpPr>
        <p:spPr>
          <a:xfrm>
            <a:off x="7067550" y="5219700"/>
            <a:ext cx="4343400" cy="10287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1430">
            <a:solidFill>
              <a:srgbClr val="C9D4E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endParaRPr lang="ko-KR" altLang="en-US"/>
          </a:p>
        </p:txBody>
      </p:sp>
      <p:sp>
        <p:nvSpPr>
          <p:cNvPr id="53" name="infra-title">
            <a:extLst>
              <a:ext uri="{FF2B5EF4-FFF2-40B4-BE49-F238E27FC236}">
                <a16:creationId xmlns:a16="http://schemas.microsoft.com/office/drawing/2014/main" id="{C4EF701B-F2A5-45EC-BE65-94C974A13B5D}"/>
              </a:ext>
            </a:extLst>
          </p:cNvPr>
          <p:cNvSpPr>
            <a:spLocks noGrp="1"/>
          </p:cNvSpPr>
          <p:nvPr/>
        </p:nvSpPr>
        <p:spPr>
          <a:xfrm>
            <a:off x="7219950" y="5343525"/>
            <a:ext cx="40386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32238"/>
                </a:solidFill>
                <a:latin typeface="Malgun Gothic"/>
                <a:ea typeface="Malgun Gothic"/>
                <a:cs typeface="Malgun Gothic"/>
              </a:rPr>
              <a:t>Runtime Containers</a:t>
            </a:r>
          </a:p>
        </p:txBody>
      </p:sp>
      <p:sp>
        <p:nvSpPr>
          <p:cNvPr id="54" name="infra-body">
            <a:extLst>
              <a:ext uri="{FF2B5EF4-FFF2-40B4-BE49-F238E27FC236}">
                <a16:creationId xmlns:a16="http://schemas.microsoft.com/office/drawing/2014/main" id="{DFFF5AAF-23F9-4521-A05D-8520BCA1D5E2}"/>
              </a:ext>
            </a:extLst>
          </p:cNvPr>
          <p:cNvSpPr>
            <a:spLocks noGrp="1"/>
          </p:cNvSpPr>
          <p:nvPr/>
        </p:nvSpPr>
        <p:spPr>
          <a:xfrm>
            <a:off x="7239000" y="5734050"/>
            <a:ext cx="40005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runapp-api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PostGIS · Redis</a:t>
            </a:r>
          </a:p>
          <a:p>
            <a:pPr algn="ctr">
              <a:def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defRPr>
            </a:pPr>
            <a:r>
              <a:rPr sz="788">
                <a:solidFill>
                  <a:srgbClr val="48566D"/>
                </a:solidFill>
                <a:latin typeface="Malgun Gothic"/>
                <a:ea typeface="Malgun Gothic"/>
                <a:cs typeface="Malgun Gothic"/>
              </a:rPr>
              <a:t>Prometheus · Loki · Grafana</a:t>
            </a:r>
          </a:p>
        </p:txBody>
      </p:sp>
      <p:cxnSp>
        <p:nvCxnSpPr>
          <p:cNvPr id="116" name="꺾인 연결선[E] 115"/>
          <p:cNvCxnSpPr>
            <a:stCxn id="19" idx="2"/>
            <a:endCxn id="46" idx="0"/>
          </p:cNvCxnSpPr>
          <p:nvPr/>
        </p:nvCxnSpPr>
        <p:spPr>
          <a:xfrm flipH="1">
            <a:off x="1914525" y="4619625"/>
            <a:ext cx="5038725" cy="600075"/>
          </a:xfrm>
          <a:prstGeom prst="bentConnector4">
            <a:avLst>
              <a:gd name="adj1" fmla="val 0"/>
              <a:gd name="adj2" fmla="val 50000"/>
            </a:avLst>
          </a:prstGeom>
          <a:ln w="15240">
            <a:solidFill>
              <a:srgbClr val="6F52ED"/>
            </a:solidFill>
            <a:prstDash val="dash"/>
            <a:tailEnd type="arrow" w="med" len="med"/>
          </a:ln>
        </p:spPr>
      </p:cxnSp>
      <p:cxnSp>
        <p:nvCxnSpPr>
          <p:cNvPr id="117" name="직선 화살표 연결선 116"/>
          <p:cNvCxnSpPr>
            <a:stCxn id="49" idx="3"/>
            <a:endCxn id="52" idx="1"/>
          </p:cNvCxnSpPr>
          <p:nvPr/>
        </p:nvCxnSpPr>
        <p:spPr>
          <a:xfrm>
            <a:off x="6686550" y="5734050"/>
            <a:ext cx="381000" cy="0"/>
          </a:xfrm>
          <a:prstGeom prst="straightConnector1">
            <a:avLst/>
          </a:prstGeom>
          <a:ln w="17145">
            <a:solidFill>
              <a:srgbClr val="A66A00"/>
            </a:solidFill>
            <a:prstDash val="solid"/>
            <a:tailEnd type="arrow" w="med" len="med"/>
          </a:ln>
        </p:spPr>
      </p:cxnSp>
      <p:cxnSp>
        <p:nvCxnSpPr>
          <p:cNvPr id="118" name="꺾인 연결선[E] 117"/>
          <p:cNvCxnSpPr>
            <a:stCxn id="52" idx="0"/>
            <a:endCxn id="37" idx="2"/>
          </p:cNvCxnSpPr>
          <p:nvPr/>
        </p:nvCxnSpPr>
        <p:spPr>
          <a:xfrm flipV="1">
            <a:off x="9239250" y="4552950"/>
            <a:ext cx="981075" cy="666750"/>
          </a:xfrm>
          <a:prstGeom prst="bentConnector4">
            <a:avLst>
              <a:gd name="adj1" fmla="val 0"/>
              <a:gd name="adj2" fmla="val 50000"/>
            </a:avLst>
          </a:prstGeom>
          <a:ln w="14288">
            <a:solidFill>
              <a:srgbClr val="6B7A90"/>
            </a:solidFill>
            <a:prstDash val="dash"/>
            <a:tailEnd type="arrow" w="med" len="med"/>
          </a:ln>
        </p:spPr>
      </p:cxnSp>
      <p:sp>
        <p:nvSpPr>
          <p:cNvPr id="58" name="ws-label-bg">
            <a:extLst>
              <a:ext uri="{FF2B5EF4-FFF2-40B4-BE49-F238E27FC236}">
                <a16:creationId xmlns:a16="http://schemas.microsoft.com/office/drawing/2014/main" id="{56FAAB5D-72C5-49BD-83A0-07A5D4820C12}"/>
              </a:ext>
            </a:extLst>
          </p:cNvPr>
          <p:cNvSpPr>
            <a:spLocks noGrp="1"/>
          </p:cNvSpPr>
          <p:nvPr/>
        </p:nvSpPr>
        <p:spPr>
          <a:xfrm>
            <a:off x="4000500" y="4762500"/>
            <a:ext cx="4095750" cy="400050"/>
          </a:xfrm>
          <a:prstGeom prst="roundRect">
            <a:avLst>
              <a:gd name="adj" fmla="val 19048"/>
            </a:avLst>
          </a:prstGeom>
          <a:solidFill>
            <a:srgbClr val="F7F9FC"/>
          </a:solidFill>
          <a:ln w="0">
            <a:solidFill>
              <a:srgbClr val="F7F9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9" name="ws-label">
            <a:extLst>
              <a:ext uri="{FF2B5EF4-FFF2-40B4-BE49-F238E27FC236}">
                <a16:creationId xmlns:a16="http://schemas.microsoft.com/office/drawing/2014/main" id="{731C4054-26F5-4AF4-818F-41C2D5493B3E}"/>
              </a:ext>
            </a:extLst>
          </p:cNvPr>
          <p:cNvSpPr>
            <a:spLocks noGrp="1"/>
          </p:cNvSpPr>
          <p:nvPr/>
        </p:nvSpPr>
        <p:spPr>
          <a:xfrm>
            <a:off x="4038600" y="4800600"/>
            <a:ext cx="40195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C4482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4482F"/>
                </a:solidFill>
                <a:latin typeface="Malgun Gothic"/>
                <a:ea typeface="Malgun Gothic"/>
                <a:cs typeface="Malgun Gothic"/>
              </a:rPr>
              <a:t>STOMP WebSocket · GPS 2초 Publish · Redis Pub/Sub</a:t>
            </a:r>
          </a:p>
          <a:p>
            <a:pPr algn="ctr">
              <a:defRPr sz="825" b="1">
                <a:solidFill>
                  <a:srgbClr val="C4482F"/>
                </a:solidFill>
                <a:latin typeface="Malgun Gothic"/>
                <a:ea typeface="Malgun Gothic"/>
                <a:cs typeface="Malgun Gothic"/>
              </a:defRPr>
            </a:pPr>
            <a:r>
              <a:rPr sz="825" b="1">
                <a:solidFill>
                  <a:srgbClr val="C4482F"/>
                </a:solidFill>
                <a:latin typeface="Malgun Gothic"/>
                <a:ea typeface="Malgun Gothic"/>
                <a:cs typeface="Malgun Gothic"/>
              </a:rPr>
              <a:t>/ws/run · /topic/group/{id} · /app/group/{id}/location</a:t>
            </a:r>
          </a:p>
        </p:txBody>
      </p:sp>
      <p:sp>
        <p:nvSpPr>
          <p:cNvPr id="60" name="footer">
            <a:extLst>
              <a:ext uri="{FF2B5EF4-FFF2-40B4-BE49-F238E27FC236}">
                <a16:creationId xmlns:a16="http://schemas.microsoft.com/office/drawing/2014/main" id="{9A147C5D-48A8-4DC7-B7E6-F8EE1E80DDA8}"/>
              </a:ext>
            </a:extLst>
          </p:cNvPr>
          <p:cNvSpPr>
            <a:spLocks noGrp="1"/>
          </p:cNvSpPr>
          <p:nvPr/>
        </p:nvSpPr>
        <p:spPr>
          <a:xfrm>
            <a:off x="533400" y="6477000"/>
            <a:ext cx="8382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8792A5"/>
                </a:solidFill>
                <a:latin typeface="Malgun Gothic"/>
                <a:ea typeface="Malgun Gothic"/>
                <a:cs typeface="Malgun Gothic"/>
              </a:defRPr>
            </a:pPr>
            <a:r>
              <a:rPr sz="750">
                <a:solidFill>
                  <a:srgbClr val="8792A5"/>
                </a:solidFill>
                <a:latin typeface="Malgun Gothic"/>
                <a:ea typeface="Malgun Gothic"/>
                <a:cs typeface="Malgun Gothic"/>
              </a:rPr>
              <a:t>Sources: backend README/build.gradle/docker-compose/application.yml · frontend README/pubspec/network/ws files</a:t>
            </a:r>
          </a:p>
        </p:txBody>
      </p:sp>
      <p:sp>
        <p:nvSpPr>
          <p:cNvPr id="61" name="footer-page">
            <a:extLst>
              <a:ext uri="{FF2B5EF4-FFF2-40B4-BE49-F238E27FC236}">
                <a16:creationId xmlns:a16="http://schemas.microsoft.com/office/drawing/2014/main" id="{91C65EF6-5DCA-4521-9CDA-9D028DA59442}"/>
              </a:ext>
            </a:extLst>
          </p:cNvPr>
          <p:cNvSpPr>
            <a:spLocks noGrp="1"/>
          </p:cNvSpPr>
          <p:nvPr/>
        </p:nvSpPr>
        <p:spPr>
          <a:xfrm>
            <a:off x="11125200" y="6457950"/>
            <a:ext cx="5334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8792A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1">
                <a:solidFill>
                  <a:srgbClr val="8792A5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806926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263</Words>
  <Application>Microsoft Macintosh PowerPoint</Application>
  <DocSecurity>0</DocSecurity>
  <PresentationFormat>와이드스크린</PresentationFormat>
  <Paragraphs>59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Malgun Gothic</vt:lpstr>
      <vt:lpstr>Calibri</vt:lpstr>
      <vt:lpstr>ChatGPT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장세찬</cp:lastModifiedBy>
  <cp:revision>1</cp:revision>
  <dcterms:created xsi:type="dcterms:W3CDTF">2026-06-20T12:13:29Z</dcterms:created>
  <dcterms:modified xsi:type="dcterms:W3CDTF">2026-06-20T12:36:17Z</dcterms:modified>
</cp:coreProperties>
</file>